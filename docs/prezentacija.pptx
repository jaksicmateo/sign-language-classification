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80" r:id="rId21"/>
    <p:sldId id="281" r:id="rId22"/>
    <p:sldId id="282" r:id="rId23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83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E83A1C-EE6E-4003-AD03-1E41AF39F004}" type="datetimeFigureOut">
              <a:rPr lang="hr-HR" smtClean="0"/>
              <a:t>2.6.2025.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C12EC3-E0A4-4C46-912C-5843872B6F2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35249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A5A12-4447-1216-0501-B045FC3815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51159B-8229-D2D4-B8B6-4FA4BD14E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1257A-5CAE-47DD-C983-A411F19D7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8A823-A521-4D7F-9CF8-0D55536E1619}" type="datetime1">
              <a:rPr lang="hr-HR" smtClean="0"/>
              <a:t>2.6.2025.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2C8C4-06C1-CDAC-7BAA-1B2B3DE09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2BEF5-08FA-72DE-D59B-6CA5AC732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1700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C3416-6349-99C4-2883-C8C190417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A6793-B2BB-152D-E1AA-802D5EDAA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6551D-25E2-F67B-115F-C54ADDFF4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ED092-A977-42BB-8671-2B8F9654D8E5}" type="datetime1">
              <a:rPr lang="hr-HR" smtClean="0"/>
              <a:t>2.6.2025.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B8808-5FD9-B1C6-40CC-3D05E5194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69B61-C3BE-D2FE-57AB-FC85A292E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32433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2998E-F7CC-7654-E784-F458928A7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05487-3C1F-605A-A29C-00880E17C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38B6D-C235-BA0E-CF6A-17186419A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1A7AF-D82D-4E93-A1E6-F241A1FB8AE0}" type="datetime1">
              <a:rPr lang="hr-HR" smtClean="0"/>
              <a:t>2.6.2025.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99137-2DD7-03CA-84E7-569034A09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9548B-5F3B-8DE6-FEEB-B198359E5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058521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03B77-65B0-EF74-3496-AE97BCBE6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73CBB-F820-31B6-4EF6-10518C7887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D6C5C1-856A-E513-0351-7A8EB5A9F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D6E40-9A29-806A-7A1B-A78659154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F2F67-682B-49F1-8366-886B50CD2D02}" type="datetime1">
              <a:rPr lang="hr-HR" smtClean="0"/>
              <a:t>2.6.2025.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D3B695-6F84-C63A-14ED-46F86CEE8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92A43-CE86-60A1-5D2E-CEAD97136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8778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8AEC2-1F12-2B2E-B536-63B2457B1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F0F21-0274-8021-5F71-6DBF33DDE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066C8-97D4-BF10-7ABB-3B6900026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29E5D1-58A3-0FE3-AFE9-BB1BB11AF3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1F11C0-A6A8-FB74-9478-81AF25EF3C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4567C3-1A4E-571F-260B-8E9ED3F0A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00EBC-F655-4ED9-B6AD-F5E1A76E0C8C}" type="datetime1">
              <a:rPr lang="hr-HR" smtClean="0"/>
              <a:t>2.6.2025.</a:t>
            </a:fld>
            <a:endParaRPr lang="hr-H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40F064-6B1F-3E60-24E0-F152B54EB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7BB1EA-DA70-9964-ED61-1288346D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02892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842F0-ECBA-0327-D792-66F44E371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0B321D-25BD-8229-550D-1E4BEB5B3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DD26E-4A34-4FB0-91AF-0DE7756BA843}" type="datetime1">
              <a:rPr lang="hr-HR" smtClean="0"/>
              <a:t>2.6.2025.</a:t>
            </a:fld>
            <a:endParaRPr lang="hr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33BA65-F3F8-7959-4C35-CE1BB1F0D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5F77CA-6A0C-343A-4217-EB5C6A3FD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39955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5286D6-E372-D67A-F93F-64EA60E51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BF054-58A7-4E87-9916-4ED89C3FBCC0}" type="datetime1">
              <a:rPr lang="hr-HR" smtClean="0"/>
              <a:t>2.6.2025.</a:t>
            </a:fld>
            <a:endParaRPr lang="hr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3D908D-8785-2D4D-ABC5-38C17E0F1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7BB13-52FF-7612-D420-9CDFBAC7B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80480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C1A94-B931-077D-C41F-6BC4F7A21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E3C11-08D3-DDFC-62FF-1577F046B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F372DF-0BF2-33F4-31EB-F8F40D2FA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46862-2374-7D9D-A9AD-5BD8586D0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69B99-9680-427B-8477-EBE19FE788E5}" type="datetime1">
              <a:rPr lang="hr-HR" smtClean="0"/>
              <a:t>2.6.2025.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4406E-206A-6A67-F1EF-CC0060E83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E1987-70A6-D248-CA6A-5BB5D5FFE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74770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02262-B407-4697-D157-C350F0CB6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7F679F-0B7F-667C-45D0-375D095D53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79B5CD-7933-6D56-A6BD-03C3CEC9BA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DC6C9-931F-EBD0-B08B-1D24E6554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B193D-6ED6-461B-9A28-AF53253E7EEB}" type="datetime1">
              <a:rPr lang="hr-HR" smtClean="0"/>
              <a:t>2.6.2025.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48FB7-7C95-E856-91C4-38A554389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0EC0D-242B-382E-C689-70A81281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483790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3CEFE-E5FD-01DE-3705-9C96CBEC0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C2DB3-753A-B1F8-7F23-DD8E6F4E85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CD06C-6AEB-34DC-6F2C-B877719F5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1700D-E26A-48C5-B6CC-2CBBFB87D15A}" type="datetime1">
              <a:rPr lang="hr-HR" smtClean="0"/>
              <a:t>2.6.2025.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4151A-1DA9-F137-8C77-2691AF3B6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97DD8-1664-3C0B-3898-5092D309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31920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1870F3-96B8-974E-6D1F-7D44E8AE95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D11B3A-3B89-12F7-2893-3EB61AF1E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2D3E6-639A-CE47-EED0-EF450BB82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5E99D-4E7C-4616-AAFA-5EA7327D9576}" type="datetime1">
              <a:rPr lang="hr-HR" smtClean="0"/>
              <a:t>2.6.2025.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142B0-8278-E076-0B00-27ED9CA3B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8C3B8-E430-BC39-D2EF-C7C092E8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30320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DF8BD4-DA5D-C7B9-70F8-B4316003C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78DAD-59FA-A2CB-5324-EDEF47F00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8D14B-A193-BD16-0386-CDAF66D136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4B487F-C209-4A9C-9BB3-3FCD080D906F}" type="datetime1">
              <a:rPr lang="hr-HR" smtClean="0"/>
              <a:t>2.6.2025.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0F0F7-9ECE-1527-31B2-4E636BC69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0BD35-C5F3-79EF-5E87-C6173CB263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D5DAE6-6A95-4C16-9251-3307F81F0746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62817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ai-forever/Real-ESRGAN/tree/main" TargetMode="External"/><Relationship Id="rId2" Type="http://schemas.openxmlformats.org/officeDocument/2006/relationships/hyperlink" Target="https://www.kaggle.com/datasets/datamunge/sign-language-mnis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okrovitelji - Akademski muški zbor FER-a">
            <a:extLst>
              <a:ext uri="{FF2B5EF4-FFF2-40B4-BE49-F238E27FC236}">
                <a16:creationId xmlns:a16="http://schemas.microsoft.com/office/drawing/2014/main" id="{33832A3A-EA6A-E8E6-6425-9F05B6885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98" y="6050337"/>
            <a:ext cx="1403604" cy="87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027712-E627-E037-D1B3-D4FC55E9D0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Sign Language Gesture Recognition Using Deep Neural Networks</a:t>
            </a:r>
            <a:endParaRPr lang="hr-HR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65C208-776A-921A-2F90-FC1232608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9274"/>
            <a:ext cx="9144000" cy="1378525"/>
          </a:xfrm>
        </p:spPr>
        <p:txBody>
          <a:bodyPr>
            <a:normAutofit/>
          </a:bodyPr>
          <a:lstStyle/>
          <a:p>
            <a:r>
              <a:rPr lang="hr-H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Lucija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Č</a:t>
            </a:r>
            <a:r>
              <a:rPr lang="hr-H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orak</a:t>
            </a:r>
            <a:r>
              <a:rPr lang="hr-H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Mateo Jak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šić</a:t>
            </a:r>
            <a:r>
              <a:rPr lang="hr-H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Petar </a:t>
            </a:r>
            <a:r>
              <a:rPr lang="hr-H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Kuruc</a:t>
            </a:r>
            <a:r>
              <a:rPr lang="hr-H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Martina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Š</a:t>
            </a:r>
            <a:r>
              <a:rPr lang="hr-H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ola</a:t>
            </a:r>
            <a:r>
              <a:rPr lang="hr-H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Klara Zagajski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4371F-9D1E-8288-F120-32698E1B6087}"/>
              </a:ext>
            </a:extLst>
          </p:cNvPr>
          <p:cNvCxnSpPr>
            <a:cxnSpLocks/>
          </p:cNvCxnSpPr>
          <p:nvPr/>
        </p:nvCxnSpPr>
        <p:spPr>
          <a:xfrm>
            <a:off x="3543559" y="3674723"/>
            <a:ext cx="51048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6B33E6D-4151-19B7-9E82-F1E4CE6A83FB}"/>
              </a:ext>
            </a:extLst>
          </p:cNvPr>
          <p:cNvSpPr txBox="1"/>
          <p:nvPr/>
        </p:nvSpPr>
        <p:spPr>
          <a:xfrm>
            <a:off x="4136008" y="172096"/>
            <a:ext cx="33729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Image Processing and Analysis</a:t>
            </a:r>
            <a:endParaRPr lang="hr-H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640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E6018-03AD-F09A-B8B7-CAFE6F470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Contents</a:t>
            </a:r>
            <a:endParaRPr lang="hr-H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5F550-60BA-DB9B-102B-DC96BFF8F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Description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Methods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Proposed Solution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Experimental Results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 and Future Work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</a:t>
            </a:r>
          </a:p>
          <a:p>
            <a:endParaRPr lang="hr-H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Pokrovitelji - Akademski muški zbor FER-a">
            <a:extLst>
              <a:ext uri="{FF2B5EF4-FFF2-40B4-BE49-F238E27FC236}">
                <a16:creationId xmlns:a16="http://schemas.microsoft.com/office/drawing/2014/main" id="{DCB7DA9F-CF65-9497-ED1C-5955BEE5B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98" y="6050337"/>
            <a:ext cx="1403604" cy="87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14FC1F-D78A-7458-CA8E-8FA936368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2</a:t>
            </a:fld>
            <a:endParaRPr lang="hr-H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AF61D67-D904-866D-4A6F-565C1886D94D}"/>
              </a:ext>
            </a:extLst>
          </p:cNvPr>
          <p:cNvCxnSpPr>
            <a:cxnSpLocks/>
          </p:cNvCxnSpPr>
          <p:nvPr/>
        </p:nvCxnSpPr>
        <p:spPr>
          <a:xfrm>
            <a:off x="698759" y="1519787"/>
            <a:ext cx="51048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0707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6C32C-1185-9974-9CDA-1D88B0516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hr-H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3253-EC23-D232-29F2-17056F503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sign‐language recognition as a bridge for deaf and hard‐of‐hearing inclusion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robust gesture classification in real‐world applications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 develop and evaluate a sign‐recognition system based on deep learning</a:t>
            </a:r>
          </a:p>
          <a:p>
            <a:endParaRPr lang="hr-HR" dirty="0"/>
          </a:p>
        </p:txBody>
      </p:sp>
      <p:pic>
        <p:nvPicPr>
          <p:cNvPr id="4" name="Picture 2" descr="Pokrovitelji - Akademski muški zbor FER-a">
            <a:extLst>
              <a:ext uri="{FF2B5EF4-FFF2-40B4-BE49-F238E27FC236}">
                <a16:creationId xmlns:a16="http://schemas.microsoft.com/office/drawing/2014/main" id="{1E69EA3B-BC14-DCFF-C67F-564BA838D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98" y="6050337"/>
            <a:ext cx="1403604" cy="87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864863-876D-1F1B-9FFD-215F7C807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3</a:t>
            </a:fld>
            <a:endParaRPr lang="hr-HR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7FC7FC-92CF-2B39-D592-067367D64D6B}"/>
              </a:ext>
            </a:extLst>
          </p:cNvPr>
          <p:cNvCxnSpPr>
            <a:cxnSpLocks/>
          </p:cNvCxnSpPr>
          <p:nvPr/>
        </p:nvCxnSpPr>
        <p:spPr>
          <a:xfrm>
            <a:off x="698759" y="1519787"/>
            <a:ext cx="51048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8857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F5652-FDD0-CF27-8E8C-ECF089C58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3D5BC-F06E-A0E7-F27A-BF6310592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Description</a:t>
            </a:r>
            <a:endParaRPr lang="hr-H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2C249-4185-81F6-CE99-CF31FC0BA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problem?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static hand‐gesture images corresponding to American Sign Language (ASL) letters.</a:t>
            </a:r>
          </a:p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it important?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real‐time translation of sign language into text/speech.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accessibility, social integration, and improved communication.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assistive devices for deaf users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educational tools for learning sign language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human-robot interfaces</a:t>
            </a:r>
            <a:endParaRPr lang="hr-H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Pokrovitelji - Akademski muški zbor FER-a">
            <a:extLst>
              <a:ext uri="{FF2B5EF4-FFF2-40B4-BE49-F238E27FC236}">
                <a16:creationId xmlns:a16="http://schemas.microsoft.com/office/drawing/2014/main" id="{6D2AC7D2-E5AF-3630-8F64-F96D4AAFF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98" y="6050337"/>
            <a:ext cx="1403604" cy="87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A9E88-F700-0695-84EB-AB2E17B60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4</a:t>
            </a:fld>
            <a:endParaRPr lang="hr-H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85D3AA-73F8-AF3F-CEBA-DE65A37E14EF}"/>
              </a:ext>
            </a:extLst>
          </p:cNvPr>
          <p:cNvCxnSpPr>
            <a:cxnSpLocks/>
          </p:cNvCxnSpPr>
          <p:nvPr/>
        </p:nvCxnSpPr>
        <p:spPr>
          <a:xfrm>
            <a:off x="698759" y="1519787"/>
            <a:ext cx="51048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637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F3A17-5FB0-EA86-E3E6-021D4CBB9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AA80E-1390-57D7-5A62-DC116A6BF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Solution – Overview</a:t>
            </a:r>
            <a:endParaRPr lang="hr-H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B9AD6-5D9F-CEA5-74C3-119BD5E31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Preparation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publicly available “Sign Language MNIST” dataset (24 static ASL classes, excluding J and Z)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are grayscale, 28 × 28 pixels, formatted in CSV</a:t>
            </a:r>
          </a:p>
          <a:p>
            <a:pPr marL="0" indent="0">
              <a:buNone/>
            </a:pPr>
            <a:endParaRPr lang="hr-HR" dirty="0"/>
          </a:p>
        </p:txBody>
      </p:sp>
      <p:pic>
        <p:nvPicPr>
          <p:cNvPr id="4" name="Picture 2" descr="Pokrovitelji - Akademski muški zbor FER-a">
            <a:extLst>
              <a:ext uri="{FF2B5EF4-FFF2-40B4-BE49-F238E27FC236}">
                <a16:creationId xmlns:a16="http://schemas.microsoft.com/office/drawing/2014/main" id="{588323CF-4626-C240-4B0C-C61F5B869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98" y="6050337"/>
            <a:ext cx="1403604" cy="87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127A75-AE31-4D97-013A-5BD91AD3B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5</a:t>
            </a:fld>
            <a:endParaRPr lang="hr-H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41028C-85DC-C74E-E0D9-20A22863051C}"/>
              </a:ext>
            </a:extLst>
          </p:cNvPr>
          <p:cNvCxnSpPr>
            <a:cxnSpLocks/>
          </p:cNvCxnSpPr>
          <p:nvPr/>
        </p:nvCxnSpPr>
        <p:spPr>
          <a:xfrm>
            <a:off x="698759" y="1519787"/>
            <a:ext cx="51048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897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E582E-3120-BA37-B866-C5CE410A6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4F3AC-FF23-24F1-DA9D-140F77ECB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Solution – Overview</a:t>
            </a:r>
            <a:endParaRPr lang="hr-H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83B10-5B75-BF21-A394-4C2CC37F8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 Steps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and normalize pixel values to [0, 1]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(pixelation, brightness/contrast changes, rotation, filters)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histogram equalization to enhance contrast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super‐Resolution using ESRGAN (×2 and ×4 upscaling to 56 × 56 and 112 × 112)</a:t>
            </a:r>
          </a:p>
          <a:p>
            <a:endParaRPr lang="hr-HR" dirty="0"/>
          </a:p>
        </p:txBody>
      </p:sp>
      <p:pic>
        <p:nvPicPr>
          <p:cNvPr id="4" name="Picture 2" descr="Pokrovitelji - Akademski muški zbor FER-a">
            <a:extLst>
              <a:ext uri="{FF2B5EF4-FFF2-40B4-BE49-F238E27FC236}">
                <a16:creationId xmlns:a16="http://schemas.microsoft.com/office/drawing/2014/main" id="{CDB895CA-9D8C-A923-5C16-9BE397525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98" y="6050337"/>
            <a:ext cx="1403604" cy="87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54972A-BFB3-5C2A-CF84-8DFED154B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6</a:t>
            </a:fld>
            <a:endParaRPr lang="hr-H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586D05-2384-CFF1-4CC0-855C76F751B1}"/>
              </a:ext>
            </a:extLst>
          </p:cNvPr>
          <p:cNvCxnSpPr>
            <a:cxnSpLocks/>
          </p:cNvCxnSpPr>
          <p:nvPr/>
        </p:nvCxnSpPr>
        <p:spPr>
          <a:xfrm>
            <a:off x="698759" y="1519787"/>
            <a:ext cx="51048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101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8BFE-D4ED-4629-3359-38F2772A2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7B580-EF3B-C08B-9E20-445F7B16F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Solution – Overview</a:t>
            </a:r>
            <a:endParaRPr lang="hr-H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87440-E9B9-2F36-B99A-3A41C50A1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Architectures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CNN trained from scratch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-style architecture</a:t>
            </a:r>
            <a:endParaRPr lang="hr-HR" dirty="0"/>
          </a:p>
        </p:txBody>
      </p:sp>
      <p:pic>
        <p:nvPicPr>
          <p:cNvPr id="4" name="Picture 2" descr="Pokrovitelji - Akademski muški zbor FER-a">
            <a:extLst>
              <a:ext uri="{FF2B5EF4-FFF2-40B4-BE49-F238E27FC236}">
                <a16:creationId xmlns:a16="http://schemas.microsoft.com/office/drawing/2014/main" id="{B6808D58-BC80-A51C-A470-395B795681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98" y="6050337"/>
            <a:ext cx="1403604" cy="87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CBA55-387B-344C-C364-F99EE63B0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7</a:t>
            </a:fld>
            <a:endParaRPr lang="hr-H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A8D26D1-6C58-3648-B9DF-CAA10DF5E194}"/>
              </a:ext>
            </a:extLst>
          </p:cNvPr>
          <p:cNvCxnSpPr>
            <a:cxnSpLocks/>
          </p:cNvCxnSpPr>
          <p:nvPr/>
        </p:nvCxnSpPr>
        <p:spPr>
          <a:xfrm>
            <a:off x="698759" y="1519787"/>
            <a:ext cx="51048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6652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6D92E-9EE2-7D64-F44C-ED376022D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7DFAF-C8B8-EE74-C972-F4B3771AD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Description</a:t>
            </a:r>
            <a:endParaRPr lang="hr-H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53A1C-3A74-682A-D708-B01363472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Language MNIST (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DataMunge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Kaggle)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 classes 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samples: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 27 455 images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 7 172 images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 source: 1 704 RGB hand photos, augmented to ~ 28 × 28 grayscale.</a:t>
            </a:r>
          </a:p>
          <a:p>
            <a:endParaRPr lang="hr-HR" dirty="0"/>
          </a:p>
        </p:txBody>
      </p:sp>
      <p:pic>
        <p:nvPicPr>
          <p:cNvPr id="4" name="Picture 2" descr="Pokrovitelji - Akademski muški zbor FER-a">
            <a:extLst>
              <a:ext uri="{FF2B5EF4-FFF2-40B4-BE49-F238E27FC236}">
                <a16:creationId xmlns:a16="http://schemas.microsoft.com/office/drawing/2014/main" id="{EBE4D0A5-C3D6-C72A-283D-57D5EED70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98" y="6050337"/>
            <a:ext cx="1403604" cy="87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7E0173-CF06-EC45-D1A2-8169A33F7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8</a:t>
            </a:fld>
            <a:endParaRPr lang="hr-H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6AB5AE4-A5FE-2D29-CECD-46C59AF0E85A}"/>
              </a:ext>
            </a:extLst>
          </p:cNvPr>
          <p:cNvCxnSpPr>
            <a:cxnSpLocks/>
          </p:cNvCxnSpPr>
          <p:nvPr/>
        </p:nvCxnSpPr>
        <p:spPr>
          <a:xfrm>
            <a:off x="698759" y="1519787"/>
            <a:ext cx="51048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885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5B818-0890-365E-08A5-6524992E8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65536" cy="1325563"/>
          </a:xfrm>
        </p:spPr>
        <p:txBody>
          <a:bodyPr/>
          <a:lstStyle/>
          <a:p>
            <a:r>
              <a:rPr lang="hr-HR" b="1" dirty="0" err="1"/>
              <a:t>Image</a:t>
            </a:r>
            <a:r>
              <a:rPr lang="hr-HR" b="1" dirty="0"/>
              <a:t> Processing – </a:t>
            </a:r>
            <a:r>
              <a:rPr lang="hr-HR" b="1" dirty="0" err="1"/>
              <a:t>Resizing</a:t>
            </a:r>
            <a:r>
              <a:rPr lang="hr-HR" b="1" dirty="0"/>
              <a:t> &amp; </a:t>
            </a:r>
            <a:r>
              <a:rPr lang="hr-HR" b="1" dirty="0" err="1"/>
              <a:t>Normalization</a:t>
            </a:r>
            <a:endParaRPr lang="hr-H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FA4E5-E313-F60E-AC04-DE6E57A23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all images to single‐channel grayscale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pixel intensities to the [0, 1] range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28 × 28 resolution for baseline experiments</a:t>
            </a:r>
          </a:p>
          <a:p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3D4C1-3994-494E-FB31-3DE3066B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9</a:t>
            </a:fld>
            <a:endParaRPr lang="hr-H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E801FB8-FBCD-74ED-2ACC-A8094F24986D}"/>
              </a:ext>
            </a:extLst>
          </p:cNvPr>
          <p:cNvCxnSpPr>
            <a:cxnSpLocks/>
          </p:cNvCxnSpPr>
          <p:nvPr/>
        </p:nvCxnSpPr>
        <p:spPr>
          <a:xfrm>
            <a:off x="698759" y="1519787"/>
            <a:ext cx="51048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Pokrovitelji - Akademski muški zbor FER-a">
            <a:extLst>
              <a:ext uri="{FF2B5EF4-FFF2-40B4-BE49-F238E27FC236}">
                <a16:creationId xmlns:a16="http://schemas.microsoft.com/office/drawing/2014/main" id="{5801A8D4-4387-62EF-D39B-E40448FD2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98" y="6050337"/>
            <a:ext cx="1403604" cy="87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45587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4E31F-D704-2E22-EF91-44A6E47BF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569A6-4330-6499-D4DB-2D3F785E1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 err="1"/>
              <a:t>Image</a:t>
            </a:r>
            <a:r>
              <a:rPr lang="hr-HR" b="1" dirty="0"/>
              <a:t> Processing – Data </a:t>
            </a:r>
            <a:r>
              <a:rPr lang="hr-HR" b="1" dirty="0" err="1"/>
              <a:t>Augmentation</a:t>
            </a:r>
            <a:endParaRPr lang="hr-H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A295A-033B-1AA3-6D98-16CD57130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 reduce overfitting, increase generalization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applied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5 % random pixel dropout (“pixelation”)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brightness/contrast adjustment (±15 %)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rotations (±3°)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filter application (e.g., Mitchell, Spline)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 training set with varied hand orientations, lighting</a:t>
            </a:r>
          </a:p>
          <a:p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5284B-EC99-9F5B-BDE9-9455D75DF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10</a:t>
            </a:fld>
            <a:endParaRPr lang="hr-H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BD43F34-C896-42E7-4739-68ABBAB95896}"/>
              </a:ext>
            </a:extLst>
          </p:cNvPr>
          <p:cNvCxnSpPr>
            <a:cxnSpLocks/>
          </p:cNvCxnSpPr>
          <p:nvPr/>
        </p:nvCxnSpPr>
        <p:spPr>
          <a:xfrm>
            <a:off x="698759" y="1519787"/>
            <a:ext cx="51048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Pokrovitelji - Akademski muški zbor FER-a">
            <a:extLst>
              <a:ext uri="{FF2B5EF4-FFF2-40B4-BE49-F238E27FC236}">
                <a16:creationId xmlns:a16="http://schemas.microsoft.com/office/drawing/2014/main" id="{02751A01-6EA8-0249-A234-DF2BB35C6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98" y="6050337"/>
            <a:ext cx="1403604" cy="87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7839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B6C64-BA26-EAB0-6742-E3A45C716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8B184-2E1C-60B5-B083-64ED671AF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 err="1"/>
              <a:t>Image</a:t>
            </a:r>
            <a:r>
              <a:rPr lang="hr-HR" b="1" dirty="0"/>
              <a:t> Processing – </a:t>
            </a:r>
            <a:r>
              <a:rPr lang="hr-HR" b="1" dirty="0" err="1"/>
              <a:t>Histogram</a:t>
            </a:r>
            <a:r>
              <a:rPr lang="hr-HR" b="1" dirty="0"/>
              <a:t> </a:t>
            </a:r>
            <a:r>
              <a:rPr lang="hr-HR" b="1" dirty="0" err="1"/>
              <a:t>Equalization</a:t>
            </a:r>
            <a:endParaRPr lang="hr-H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D60BA-C737-2329-F973-938C4580A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59602" cy="4224712"/>
          </a:xfrm>
        </p:spPr>
        <p:txBody>
          <a:bodyPr/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improve contrast in low‐resolution images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cumulative distribution function (CDF) of pixel intensities per image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remap pixel values so that output histogram is more uniform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result to 8‐bit format to preserve consistency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benefit: sharper edges and clearer finger‐hand contours for feature extraction</a:t>
            </a:r>
          </a:p>
          <a:p>
            <a:pPr marL="0" indent="0">
              <a:buNone/>
            </a:pP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B27BC-8752-3351-FFBC-8B95996A9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11</a:t>
            </a:fld>
            <a:endParaRPr lang="hr-HR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C6E62FB-0F86-C666-4546-F3289CA829D4}"/>
              </a:ext>
            </a:extLst>
          </p:cNvPr>
          <p:cNvCxnSpPr>
            <a:cxnSpLocks/>
          </p:cNvCxnSpPr>
          <p:nvPr/>
        </p:nvCxnSpPr>
        <p:spPr>
          <a:xfrm>
            <a:off x="698759" y="1519787"/>
            <a:ext cx="51048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Pokrovitelji - Akademski muški zbor FER-a">
            <a:extLst>
              <a:ext uri="{FF2B5EF4-FFF2-40B4-BE49-F238E27FC236}">
                <a16:creationId xmlns:a16="http://schemas.microsoft.com/office/drawing/2014/main" id="{1E5C22CB-983E-7993-046E-2D212679B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98" y="6050337"/>
            <a:ext cx="1403604" cy="87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close-up of a hand&#10;&#10;AI-generated content may be incorrect.">
            <a:extLst>
              <a:ext uri="{FF2B5EF4-FFF2-40B4-BE49-F238E27FC236}">
                <a16:creationId xmlns:a16="http://schemas.microsoft.com/office/drawing/2014/main" id="{F0034327-B243-F887-AB7B-73905EC1DB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" t="7384" r="53867" b="1562"/>
          <a:stretch/>
        </p:blipFill>
        <p:spPr>
          <a:xfrm>
            <a:off x="7028544" y="2462949"/>
            <a:ext cx="2162628" cy="2155087"/>
          </a:xfrm>
          <a:prstGeom prst="rect">
            <a:avLst/>
          </a:prstGeom>
        </p:spPr>
      </p:pic>
      <p:pic>
        <p:nvPicPr>
          <p:cNvPr id="10" name="Picture 9" descr="A close-up of a hand&#10;&#10;AI-generated content may be incorrect.">
            <a:extLst>
              <a:ext uri="{FF2B5EF4-FFF2-40B4-BE49-F238E27FC236}">
                <a16:creationId xmlns:a16="http://schemas.microsoft.com/office/drawing/2014/main" id="{41D9E389-8615-5426-7B50-B16E50ED50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66" t="7384" r="678" b="1562"/>
          <a:stretch/>
        </p:blipFill>
        <p:spPr>
          <a:xfrm>
            <a:off x="9191172" y="2462949"/>
            <a:ext cx="2162628" cy="21550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182065-70C5-F06F-FAC0-C17B17A81257}"/>
              </a:ext>
            </a:extLst>
          </p:cNvPr>
          <p:cNvSpPr txBox="1"/>
          <p:nvPr/>
        </p:nvSpPr>
        <p:spPr>
          <a:xfrm>
            <a:off x="8665226" y="4618036"/>
            <a:ext cx="10518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hr-H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981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6E57E-D522-23E1-B81C-3578DB157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D087C-CAFF-DC43-494D-108508677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 err="1"/>
              <a:t>Image</a:t>
            </a:r>
            <a:r>
              <a:rPr lang="hr-HR" b="1" dirty="0"/>
              <a:t> Processing – Super‐</a:t>
            </a:r>
            <a:r>
              <a:rPr lang="hr-HR" b="1" dirty="0" err="1"/>
              <a:t>Resolution</a:t>
            </a:r>
            <a:endParaRPr lang="hr-H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BA1A2-FECD-9E71-E189-D45766EEC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19057" cy="4351338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 low‐resolution (28 × 28) may lack detail needed by deep models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method: use ESRGAN (Enhanced Super‐Resolution GAN) pre‐trained model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variants: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×2 upscaling → 56 × 56 → then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‐crop or resize to 112 × 112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×4 upscaling → directly to ~112 × 112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 higher‐resolution images with finer details</a:t>
            </a:r>
            <a:endParaRPr lang="hr-H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E7F2D-4673-F233-1B85-0977A891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12</a:t>
            </a:fld>
            <a:endParaRPr lang="hr-H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C4A056-EFBE-92DC-0A49-ED50A92E032D}"/>
              </a:ext>
            </a:extLst>
          </p:cNvPr>
          <p:cNvCxnSpPr>
            <a:cxnSpLocks/>
          </p:cNvCxnSpPr>
          <p:nvPr/>
        </p:nvCxnSpPr>
        <p:spPr>
          <a:xfrm>
            <a:off x="698759" y="1519787"/>
            <a:ext cx="51048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Pokrovitelji - Akademski muški zbor FER-a">
            <a:extLst>
              <a:ext uri="{FF2B5EF4-FFF2-40B4-BE49-F238E27FC236}">
                <a16:creationId xmlns:a16="http://schemas.microsoft.com/office/drawing/2014/main" id="{0770E801-510F-022F-4A27-B0DA01AD9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98" y="6050337"/>
            <a:ext cx="1403604" cy="87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close-up of a hand&#10;&#10;AI-generated content may be incorrect.">
            <a:extLst>
              <a:ext uri="{FF2B5EF4-FFF2-40B4-BE49-F238E27FC236}">
                <a16:creationId xmlns:a16="http://schemas.microsoft.com/office/drawing/2014/main" id="{416B688D-1631-9469-9366-A231C3C84B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" t="7384" r="53867" b="1562"/>
          <a:stretch/>
        </p:blipFill>
        <p:spPr>
          <a:xfrm>
            <a:off x="7028015" y="2792133"/>
            <a:ext cx="2162628" cy="21550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359142-1FA1-D4F9-F657-7C267727C8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08" t="7053" r="475" b="1762"/>
          <a:stretch/>
        </p:blipFill>
        <p:spPr>
          <a:xfrm>
            <a:off x="9190643" y="1603097"/>
            <a:ext cx="2163157" cy="2155087"/>
          </a:xfrm>
          <a:prstGeom prst="rect">
            <a:avLst/>
          </a:prstGeom>
        </p:spPr>
      </p:pic>
      <p:pic>
        <p:nvPicPr>
          <p:cNvPr id="11" name="Picture 10" descr="A close-up of a hand&#10;&#10;AI-generated content may be incorrect.">
            <a:extLst>
              <a:ext uri="{FF2B5EF4-FFF2-40B4-BE49-F238E27FC236}">
                <a16:creationId xmlns:a16="http://schemas.microsoft.com/office/drawing/2014/main" id="{5C8A7065-10CC-5D69-2D19-37B31F2A18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01" t="6985" r="574" b="1814"/>
          <a:stretch/>
        </p:blipFill>
        <p:spPr>
          <a:xfrm>
            <a:off x="9189585" y="3758184"/>
            <a:ext cx="2162629" cy="21545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5D5F0BF-D636-6958-C72D-AE1C407FC632}"/>
              </a:ext>
            </a:extLst>
          </p:cNvPr>
          <p:cNvSpPr txBox="1"/>
          <p:nvPr/>
        </p:nvSpPr>
        <p:spPr>
          <a:xfrm>
            <a:off x="8610600" y="2370276"/>
            <a:ext cx="5277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×2:</a:t>
            </a:r>
            <a:endParaRPr lang="hr-H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B5B3AE-3847-BEFB-B57F-C77CD05E2207}"/>
              </a:ext>
            </a:extLst>
          </p:cNvPr>
          <p:cNvSpPr txBox="1"/>
          <p:nvPr/>
        </p:nvSpPr>
        <p:spPr>
          <a:xfrm>
            <a:off x="8604909" y="4993807"/>
            <a:ext cx="5277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×4:</a:t>
            </a:r>
            <a:endParaRPr lang="hr-H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846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57493-C398-DD3B-A436-39264D978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897D9-E89C-308E-A995-EC1BA3363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b="1" dirty="0"/>
              <a:t>Model </a:t>
            </a:r>
            <a:r>
              <a:rPr lang="hr-HR" b="1" dirty="0" err="1"/>
              <a:t>Architectures</a:t>
            </a:r>
            <a:r>
              <a:rPr lang="hr-HR" b="1" dirty="0"/>
              <a:t> – </a:t>
            </a:r>
            <a:r>
              <a:rPr lang="hr-HR" b="1" dirty="0" err="1"/>
              <a:t>Custom</a:t>
            </a:r>
            <a:r>
              <a:rPr lang="hr-HR" b="1" dirty="0"/>
              <a:t> 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F47A1-6D48-1E89-AEED-84471ACBB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Highlights: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3–4 convolutional blocks (Conv → ReLU → BatchNorm →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MaxPool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dropout layer (e.g., 0.5) before fully connected layers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 layers </a:t>
            </a:r>
          </a:p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Setup: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optimizer: Adam (learning rate tuned experimentally)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loss: Categorical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Crossentropy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stopping based on validation loss to prevent overfitting</a:t>
            </a:r>
          </a:p>
          <a:p>
            <a:pPr marL="0" indent="0">
              <a:buNone/>
            </a:pPr>
            <a:endParaRPr lang="hr-H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A7C594-CDC9-D381-1592-6EBB820E7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13</a:t>
            </a:fld>
            <a:endParaRPr lang="hr-H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49861C-ADA9-3BAE-A376-BB01A38D2E43}"/>
              </a:ext>
            </a:extLst>
          </p:cNvPr>
          <p:cNvCxnSpPr>
            <a:cxnSpLocks/>
          </p:cNvCxnSpPr>
          <p:nvPr/>
        </p:nvCxnSpPr>
        <p:spPr>
          <a:xfrm>
            <a:off x="698759" y="1519787"/>
            <a:ext cx="51048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Pokrovitelji - Akademski muški zbor FER-a">
            <a:extLst>
              <a:ext uri="{FF2B5EF4-FFF2-40B4-BE49-F238E27FC236}">
                <a16:creationId xmlns:a16="http://schemas.microsoft.com/office/drawing/2014/main" id="{588FD12E-9B83-7E1F-DCD8-8C180BF41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98" y="6050337"/>
            <a:ext cx="1403604" cy="87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6141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40A38-76A0-E448-E27D-4C3878768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B6783-67A7-99F8-3720-7F52E0222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Model Architectures – Custom </a:t>
            </a:r>
            <a:r>
              <a:rPr lang="en-GB" b="1" dirty="0" err="1"/>
              <a:t>ResNet</a:t>
            </a:r>
            <a:endParaRPr lang="hr-H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876EE-6B1B-B938-1488-2E8A2132E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idea: uses “residual blocks” to let the network learn deeper features without degrading performance</a:t>
            </a:r>
          </a:p>
          <a:p>
            <a:pPr>
              <a:buNone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28×28 Version: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initial convolutional layer (32 filters)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groups of residual blocks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average pooling → Dropout →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 for 24 classes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112×112 Version (after Super-Resolution):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fourth group of residual blocks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same global pooling, dropout, and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steps</a:t>
            </a:r>
          </a:p>
          <a:p>
            <a:endParaRPr lang="hr-H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44B93-CE9D-56D6-9323-FE996D5B4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14</a:t>
            </a:fld>
            <a:endParaRPr lang="hr-H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3304295-7A23-559A-999A-8F65CCFB4F2E}"/>
              </a:ext>
            </a:extLst>
          </p:cNvPr>
          <p:cNvCxnSpPr>
            <a:cxnSpLocks/>
          </p:cNvCxnSpPr>
          <p:nvPr/>
        </p:nvCxnSpPr>
        <p:spPr>
          <a:xfrm>
            <a:off x="698759" y="1519787"/>
            <a:ext cx="51048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Pokrovitelji - Akademski muški zbor FER-a">
            <a:extLst>
              <a:ext uri="{FF2B5EF4-FFF2-40B4-BE49-F238E27FC236}">
                <a16:creationId xmlns:a16="http://schemas.microsoft.com/office/drawing/2014/main" id="{73F08F79-FF80-CA88-A359-7B364CA3B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98" y="6050337"/>
            <a:ext cx="1403604" cy="87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0505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F6DBE-4748-22F9-954C-D4E3C52B4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DF5D6-E675-294D-2101-D291C2109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Experimental Setup</a:t>
            </a:r>
            <a:endParaRPr lang="hr-H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ECD41-4A58-4646-2734-433858579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Splits: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 80 % of augmented images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validation: 10 % of training split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testing: 7 172 held‐out images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Parameters: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size: 64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epochs: up to 50 (with early stopping)</a:t>
            </a:r>
          </a:p>
          <a:p>
            <a:pPr lvl="1"/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kearning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rate: 1e-3 initial, reduce on plateau</a:t>
            </a:r>
            <a:endParaRPr lang="hr-H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67AA1-CFCC-4FB2-D0BE-4F3C3FD0B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15</a:t>
            </a:fld>
            <a:endParaRPr lang="hr-H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E38811-6465-5460-A921-09401AAE350B}"/>
              </a:ext>
            </a:extLst>
          </p:cNvPr>
          <p:cNvCxnSpPr>
            <a:cxnSpLocks/>
          </p:cNvCxnSpPr>
          <p:nvPr/>
        </p:nvCxnSpPr>
        <p:spPr>
          <a:xfrm>
            <a:off x="698759" y="1519787"/>
            <a:ext cx="51048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Pokrovitelji - Akademski muški zbor FER-a">
            <a:extLst>
              <a:ext uri="{FF2B5EF4-FFF2-40B4-BE49-F238E27FC236}">
                <a16:creationId xmlns:a16="http://schemas.microsoft.com/office/drawing/2014/main" id="{61419C9A-DB7A-84B3-C573-5913288F5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98" y="6050337"/>
            <a:ext cx="1403604" cy="87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502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828D1-C90F-11AA-AEAA-7704D32A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932FD-EC82-8993-F202-0673BF433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Evaluation Metrics</a:t>
            </a:r>
            <a:endParaRPr lang="hr-H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65508-8DC9-A030-E2E0-0155F378F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f1‐score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time</a:t>
            </a:r>
            <a:endParaRPr lang="hr-H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A7C6A-1C5C-3863-F3E3-843AD7D24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16</a:t>
            </a:fld>
            <a:endParaRPr lang="hr-H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91A8C3E-0477-4FA5-BEB7-CD10A9E15122}"/>
              </a:ext>
            </a:extLst>
          </p:cNvPr>
          <p:cNvCxnSpPr>
            <a:cxnSpLocks/>
          </p:cNvCxnSpPr>
          <p:nvPr/>
        </p:nvCxnSpPr>
        <p:spPr>
          <a:xfrm>
            <a:off x="698759" y="1519787"/>
            <a:ext cx="51048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Pokrovitelji - Akademski muški zbor FER-a">
            <a:extLst>
              <a:ext uri="{FF2B5EF4-FFF2-40B4-BE49-F238E27FC236}">
                <a16:creationId xmlns:a16="http://schemas.microsoft.com/office/drawing/2014/main" id="{92BC128C-87FB-F3C2-E5D9-38B5942657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98" y="6050337"/>
            <a:ext cx="1403604" cy="87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6781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B4FD9-F5E0-AEBD-7E5E-E01613777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CB289-77CE-5052-0A4B-CFDF49037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Quantitative Results </a:t>
            </a:r>
            <a:endParaRPr lang="hr-HR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A8085-0A39-2BEB-A9FA-E16C3E12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17</a:t>
            </a:fld>
            <a:endParaRPr lang="hr-H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878B1F-FA08-CC9D-2F84-733F50D9AB50}"/>
              </a:ext>
            </a:extLst>
          </p:cNvPr>
          <p:cNvCxnSpPr>
            <a:cxnSpLocks/>
          </p:cNvCxnSpPr>
          <p:nvPr/>
        </p:nvCxnSpPr>
        <p:spPr>
          <a:xfrm>
            <a:off x="698759" y="1519787"/>
            <a:ext cx="51048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Pokrovitelji - Akademski muški zbor FER-a">
            <a:extLst>
              <a:ext uri="{FF2B5EF4-FFF2-40B4-BE49-F238E27FC236}">
                <a16:creationId xmlns:a16="http://schemas.microsoft.com/office/drawing/2014/main" id="{79E5EC1D-D6D7-3F61-3DE6-538EF8441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98" y="6050337"/>
            <a:ext cx="1403604" cy="87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85568773-6A67-802E-8E01-8628165955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7064871"/>
              </p:ext>
            </p:extLst>
          </p:nvPr>
        </p:nvGraphicFramePr>
        <p:xfrm>
          <a:off x="939800" y="2331720"/>
          <a:ext cx="7772400" cy="2377440"/>
        </p:xfrm>
        <a:graphic>
          <a:graphicData uri="http://schemas.openxmlformats.org/drawingml/2006/table">
            <a:tbl>
              <a:tblPr/>
              <a:tblGrid>
                <a:gridCol w="2993570">
                  <a:extLst>
                    <a:ext uri="{9D8B030D-6E8A-4147-A177-3AD203B41FA5}">
                      <a16:colId xmlns:a16="http://schemas.microsoft.com/office/drawing/2014/main" val="1899613777"/>
                    </a:ext>
                  </a:extLst>
                </a:gridCol>
                <a:gridCol w="2188030">
                  <a:extLst>
                    <a:ext uri="{9D8B030D-6E8A-4147-A177-3AD203B41FA5}">
                      <a16:colId xmlns:a16="http://schemas.microsoft.com/office/drawing/2014/main" val="41643711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42227617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hr-HR" sz="200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r-HR" sz="2000"/>
                        <a:t>CNN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r-HR" sz="2000"/>
                        <a:t>ResNet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7140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hr-HR" sz="2000"/>
                        <a:t>Accuracy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r-HR" sz="2000"/>
                        <a:t>94 %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r-HR" sz="2000"/>
                        <a:t>100 %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541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hr-HR" sz="2000" dirty="0" err="1"/>
                        <a:t>Precision</a:t>
                      </a:r>
                      <a:r>
                        <a:rPr lang="hr-HR" sz="2000" dirty="0"/>
                        <a:t>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r-HR" sz="2000"/>
                        <a:t>99 %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r-HR" sz="2000"/>
                        <a:t>100 %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831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hr-HR" sz="2000" dirty="0" err="1"/>
                        <a:t>Recall</a:t>
                      </a:r>
                      <a:r>
                        <a:rPr lang="hr-HR" sz="2000" dirty="0"/>
                        <a:t>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r-HR" sz="2000"/>
                        <a:t>88 %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r-HR" sz="2000"/>
                        <a:t>100 %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595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hr-HR" sz="2000"/>
                        <a:t>F1-Score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r-HR" sz="2000"/>
                        <a:t>93 %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r-HR" sz="2000"/>
                        <a:t>100 %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687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hr-HR" sz="2000"/>
                        <a:t>Training Time (s)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r-HR" sz="2000"/>
                        <a:t>1 384 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hr-HR" sz="2000" dirty="0"/>
                        <a:t>7 240 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13084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61AFCED-A52B-F726-33D1-F6651B074453}"/>
              </a:ext>
            </a:extLst>
          </p:cNvPr>
          <p:cNvSpPr txBox="1"/>
          <p:nvPr/>
        </p:nvSpPr>
        <p:spPr>
          <a:xfrm>
            <a:off x="6812316" y="4887317"/>
            <a:ext cx="54283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/>
              <a:t>Super-Resolution ×2 (56 × 56 → 112 × 112)</a:t>
            </a:r>
            <a:endParaRPr lang="hr-HR" b="1" i="1" dirty="0"/>
          </a:p>
        </p:txBody>
      </p:sp>
    </p:spTree>
    <p:extLst>
      <p:ext uri="{BB962C8B-B14F-4D97-AF65-F5344CB8AC3E}">
        <p14:creationId xmlns:p14="http://schemas.microsoft.com/office/powerpoint/2010/main" val="919482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4303A-11D9-115E-EC7C-DDCC99144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CB2F2-F8AF-FDFC-5A6F-ACE332205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Experimental Results – Discussion</a:t>
            </a:r>
            <a:endParaRPr lang="hr-H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D16FB-583F-C109-D10E-B34A96547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of Histogram Equalization: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suffers from uneven pixel distributions;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remains robust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Super‐Resolution: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×2 SR helps CNN’s precision and F1, but still falls shy of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ResNet’s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perfect scores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trade‐off: increased input size → longer training but richer features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vs.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Comparison:</a:t>
            </a:r>
          </a:p>
          <a:p>
            <a:pPr lvl="1"/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achieves higher accuracy but with more parameters and longer training time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may be more lightweight and faster, but lower generalization on high‐detail gestures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6BB7B-DDC0-B7B5-5BB4-F2B17448F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18</a:t>
            </a:fld>
            <a:endParaRPr lang="hr-H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4600A2-37D5-E9FC-8066-6B97BF46BFAD}"/>
              </a:ext>
            </a:extLst>
          </p:cNvPr>
          <p:cNvCxnSpPr>
            <a:cxnSpLocks/>
          </p:cNvCxnSpPr>
          <p:nvPr/>
        </p:nvCxnSpPr>
        <p:spPr>
          <a:xfrm>
            <a:off x="698759" y="1519787"/>
            <a:ext cx="51048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Pokrovitelji - Akademski muški zbor FER-a">
            <a:extLst>
              <a:ext uri="{FF2B5EF4-FFF2-40B4-BE49-F238E27FC236}">
                <a16:creationId xmlns:a16="http://schemas.microsoft.com/office/drawing/2014/main" id="{1B392D0C-D64A-C6B7-37F2-5B55FE020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98" y="6050337"/>
            <a:ext cx="1403604" cy="87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44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FE785-E49F-74A5-5BBD-AFFD8E2BC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D727A-A01F-A415-0A54-421AE59B6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Experimental Results – Discussion</a:t>
            </a:r>
            <a:endParaRPr lang="hr-H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4EA61-82DE-BD9A-59F2-FFBB3A45F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pPr lvl="1"/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dynamic gestures (letters J and Z missing)</a:t>
            </a:r>
          </a:p>
          <a:p>
            <a:pPr lvl="1"/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bias toward frontal hand orientation, limited lighting variation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consistently achieves near-perfect or perfect classification (≥ 97 % accuracy) on all four data versions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falls behind on recall and F1 when pixel distributions change but benefits from SR ×2 and ×4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super-resolution helps CNN, but the resulting CNN+SR training time is an order of magnitude larger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real-time or low-compute environments, the simpler CNN on 28 × 28 may suffice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watch out for </a:t>
            </a:r>
            <a:r>
              <a:rPr lang="en-GB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labeling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FE498-1AAF-74BD-1330-73B8D85FA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19</a:t>
            </a:fld>
            <a:endParaRPr lang="hr-H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7CC409F-DAF2-2846-C490-250FAA40214E}"/>
              </a:ext>
            </a:extLst>
          </p:cNvPr>
          <p:cNvCxnSpPr>
            <a:cxnSpLocks/>
          </p:cNvCxnSpPr>
          <p:nvPr/>
        </p:nvCxnSpPr>
        <p:spPr>
          <a:xfrm>
            <a:off x="698759" y="1519787"/>
            <a:ext cx="51048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Pokrovitelji - Akademski muški zbor FER-a">
            <a:extLst>
              <a:ext uri="{FF2B5EF4-FFF2-40B4-BE49-F238E27FC236}">
                <a16:creationId xmlns:a16="http://schemas.microsoft.com/office/drawing/2014/main" id="{9047E1A6-CD3D-B37E-921B-1CC032C3D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98" y="6050337"/>
            <a:ext cx="1403604" cy="87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1018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79E4A-4FBD-F100-D136-4C31EB6EA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ED10C-5DA3-2E6B-0496-1A346AA9A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Conclusion</a:t>
            </a:r>
            <a:endParaRPr lang="hr-HR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DC504-0373-66CF-7FEF-D703A6AE0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20</a:t>
            </a:fld>
            <a:endParaRPr lang="hr-H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6853FDD-CAC0-E770-82BD-3CBA23F56092}"/>
              </a:ext>
            </a:extLst>
          </p:cNvPr>
          <p:cNvCxnSpPr>
            <a:cxnSpLocks/>
          </p:cNvCxnSpPr>
          <p:nvPr/>
        </p:nvCxnSpPr>
        <p:spPr>
          <a:xfrm>
            <a:off x="698759" y="1519787"/>
            <a:ext cx="51048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Pokrovitelji - Akademski muški zbor FER-a">
            <a:extLst>
              <a:ext uri="{FF2B5EF4-FFF2-40B4-BE49-F238E27FC236}">
                <a16:creationId xmlns:a16="http://schemas.microsoft.com/office/drawing/2014/main" id="{3A2329AB-20D6-2DD2-1FF5-A86457A64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98" y="6050337"/>
            <a:ext cx="1403604" cy="87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BC9E6C3-6F22-351D-98FF-D2FC7AF4A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28 × 28 data,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achieves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99 %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(100 % F1), CNN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achieves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92 %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(91 % F1)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istogram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equalization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drops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CNN’s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73 % (F1 = 82 %),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remains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97 %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(98 % F1)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 ×2 → CNN: 94 %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1 384 s;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100 %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7 240 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 ×4 → CNN: 95 %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1 195 s;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100 %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8 289 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time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limited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CNN on 28 × 28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might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acceptable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(92 %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r-H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hr-H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33 s)</a:t>
            </a:r>
            <a:endParaRPr lang="hr-H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779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D605F-8C64-A4E9-2F77-3A3CE0F6E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CC0E4-A246-44DD-7D98-383F9AF67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Conclusion</a:t>
            </a:r>
            <a:endParaRPr lang="hr-H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E1C8B-759A-EC31-71B2-65D2BF3E2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Takeaways: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 image enhancement + state‐of‐the‐art architectures</a:t>
            </a:r>
          </a:p>
          <a:p>
            <a:pPr lvl="1"/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ResNet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superior across all conditions – robust to pixel distribution changes and minor resolution</a:t>
            </a:r>
          </a:p>
          <a:p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dynamic gestures (J, Z) via short video clips or optical‐flow features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dataset with more hand orientations, skin tones, backgrounds</a:t>
            </a:r>
          </a:p>
          <a:p>
            <a:pPr lvl="1"/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a real‐time mobile/web application for on‐device inference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hr-H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EBB99-5D98-32DB-F8AB-C8BD5B2AE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21</a:t>
            </a:fld>
            <a:endParaRPr lang="hr-H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E5310EB-D5B9-10FB-BC48-90ED7E6A74C6}"/>
              </a:ext>
            </a:extLst>
          </p:cNvPr>
          <p:cNvCxnSpPr>
            <a:cxnSpLocks/>
          </p:cNvCxnSpPr>
          <p:nvPr/>
        </p:nvCxnSpPr>
        <p:spPr>
          <a:xfrm>
            <a:off x="698759" y="1519787"/>
            <a:ext cx="51048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2" descr="Pokrovitelji - Akademski muški zbor FER-a">
            <a:extLst>
              <a:ext uri="{FF2B5EF4-FFF2-40B4-BE49-F238E27FC236}">
                <a16:creationId xmlns:a16="http://schemas.microsoft.com/office/drawing/2014/main" id="{45518B1F-66AB-657E-B9E3-97E4C8481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98" y="6050337"/>
            <a:ext cx="1403604" cy="87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0999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682D-7A61-3529-680F-CA168E55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9F03A-83CB-55B3-C225-8CFA23162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References</a:t>
            </a:r>
            <a:endParaRPr lang="hr-HR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4DF3E-85FD-98AD-76D9-334F9E7D3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He, K., Zhang, X., Ren, S., &amp; Sun, J. (2016). Deep Residual Learning for Image Recognition. CVPR</a:t>
            </a:r>
          </a:p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DataMunge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Sign Language MNIST,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https://www.kaggle.com/datasets/datamunge/sign-language-mnist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AI-Forever Real-ESRGAN,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https://huggingface.co/ai-forever/Real-ESRGAN/tree/main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hr-H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8C86F-A3D6-475F-50F9-95C303C9F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5DAE6-6A95-4C16-9251-3307F81F0746}" type="slidenum">
              <a:rPr lang="hr-HR" smtClean="0"/>
              <a:t>22</a:t>
            </a:fld>
            <a:endParaRPr lang="hr-HR"/>
          </a:p>
        </p:txBody>
      </p:sp>
      <p:pic>
        <p:nvPicPr>
          <p:cNvPr id="5" name="Picture 2" descr="Pokrovitelji - Akademski muški zbor FER-a">
            <a:extLst>
              <a:ext uri="{FF2B5EF4-FFF2-40B4-BE49-F238E27FC236}">
                <a16:creationId xmlns:a16="http://schemas.microsoft.com/office/drawing/2014/main" id="{378DE117-7D1E-CDB9-2AE6-3852EE1C0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198" y="6050337"/>
            <a:ext cx="1403604" cy="875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9580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1282</Words>
  <Application>Microsoft Office PowerPoint</Application>
  <PresentationFormat>Widescreen</PresentationFormat>
  <Paragraphs>185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Times New Roman</vt:lpstr>
      <vt:lpstr>Office Theme</vt:lpstr>
      <vt:lpstr>Sign Language Gesture Recognition Using Deep Neural Networks</vt:lpstr>
      <vt:lpstr>Contents</vt:lpstr>
      <vt:lpstr>Introduction</vt:lpstr>
      <vt:lpstr>Problem Description</vt:lpstr>
      <vt:lpstr>Proposed Solution – Overview</vt:lpstr>
      <vt:lpstr>Proposed Solution – Overview</vt:lpstr>
      <vt:lpstr>Proposed Solution – Overview</vt:lpstr>
      <vt:lpstr>Dataset Description</vt:lpstr>
      <vt:lpstr>Image Processing – Resizing &amp; Normalization</vt:lpstr>
      <vt:lpstr>Image Processing – Data Augmentation</vt:lpstr>
      <vt:lpstr>Image Processing – Histogram Equalization</vt:lpstr>
      <vt:lpstr>Image Processing – Super‐Resolution</vt:lpstr>
      <vt:lpstr>Model Architectures – Custom CNN</vt:lpstr>
      <vt:lpstr>Model Architectures – Custom ResNet</vt:lpstr>
      <vt:lpstr>Experimental Setup</vt:lpstr>
      <vt:lpstr>Evaluation Metrics</vt:lpstr>
      <vt:lpstr>Quantitative Results </vt:lpstr>
      <vt:lpstr>Experimental Results – Discussion</vt:lpstr>
      <vt:lpstr>Experimental Results – Discussion</vt:lpstr>
      <vt:lpstr>Conclusion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Klara Zagajski</dc:creator>
  <cp:lastModifiedBy>Klara Zagajski</cp:lastModifiedBy>
  <cp:revision>6</cp:revision>
  <dcterms:created xsi:type="dcterms:W3CDTF">2025-06-02T00:18:06Z</dcterms:created>
  <dcterms:modified xsi:type="dcterms:W3CDTF">2025-06-02T04:43:20Z</dcterms:modified>
</cp:coreProperties>
</file>